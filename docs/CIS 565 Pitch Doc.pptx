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0b2c75f2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0b2c75f2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b2c75f2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b2c75f2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b2c75f2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b2c75f2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0b2c75f25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0b2c75f2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i.org/10.1145/3197517.3201336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/>
              <a:t>Real-time Wavelets with Shallow Water Simulation in WebGPU</a:t>
            </a:r>
            <a:endParaRPr sz="44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60225"/>
            <a:ext cx="8520600" cy="11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50"/>
              <a:t>2025 Fall CIS 565 Final Project</a:t>
            </a:r>
            <a:endParaRPr sz="40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Qirui Fu</a:t>
            </a:r>
            <a:br>
              <a:rPr lang="zh-CN"/>
            </a:br>
            <a:r>
              <a:rPr lang="zh-CN"/>
              <a:t>Pavel Peev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Tianhong Zhou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352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Goals and Outcomes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10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Reproduce the </a:t>
            </a:r>
            <a:r>
              <a:rPr i="1" lang="zh-CN" sz="1200">
                <a:solidFill>
                  <a:schemeClr val="dk1"/>
                </a:solidFill>
              </a:rPr>
              <a:t>Generalizing Shallow Water Simulation with Dispersive Surface Waves</a:t>
            </a:r>
            <a:r>
              <a:rPr lang="zh-CN" sz="1200">
                <a:solidFill>
                  <a:schemeClr val="dk1"/>
                </a:solidFill>
              </a:rPr>
              <a:t> (SIGGRAPH 2023) model using </a:t>
            </a:r>
            <a:r>
              <a:rPr b="1" lang="zh-CN" sz="1200">
                <a:solidFill>
                  <a:schemeClr val="dk1"/>
                </a:solidFill>
              </a:rPr>
              <a:t>WebGPU</a:t>
            </a:r>
            <a:r>
              <a:rPr lang="zh-C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Achieve </a:t>
            </a:r>
            <a:r>
              <a:rPr b="1" lang="zh-CN" sz="1200">
                <a:solidFill>
                  <a:schemeClr val="dk1"/>
                </a:solidFill>
              </a:rPr>
              <a:t>real-time, large-scale</a:t>
            </a:r>
            <a:r>
              <a:rPr lang="zh-CN" sz="1200">
                <a:solidFill>
                  <a:schemeClr val="dk1"/>
                </a:solidFill>
              </a:rPr>
              <a:t> water wave propagation that supports reflection, refraction, obstacle interaction, and correct shallow water border interaction.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Incorporate </a:t>
            </a:r>
            <a:r>
              <a:rPr b="1" lang="zh-CN" sz="1200">
                <a:solidFill>
                  <a:schemeClr val="dk1"/>
                </a:solidFill>
              </a:rPr>
              <a:t>interactive control features</a:t>
            </a:r>
            <a:r>
              <a:rPr lang="zh-CN" sz="1200">
                <a:solidFill>
                  <a:schemeClr val="dk1"/>
                </a:solidFill>
              </a:rPr>
              <a:t>, including wave painting, dropping objects into the water, and clicking to create ripples.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Final deliverable: a WebGPU demo showcasing an interactive scene with multiple islands and boats of many sizes, as well as aforementioned interactive controls.</a:t>
            </a:r>
            <a:endParaRPr sz="1900"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4766125" y="445025"/>
            <a:ext cx="514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Application of GPU 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629375" y="1152475"/>
            <a:ext cx="410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The </a:t>
            </a:r>
            <a:r>
              <a:rPr i="1" lang="zh-CN" sz="1200">
                <a:solidFill>
                  <a:schemeClr val="dk1"/>
                </a:solidFill>
              </a:rPr>
              <a:t>Water Surface Wavelets</a:t>
            </a:r>
            <a:r>
              <a:rPr lang="zh-CN" sz="1200">
                <a:solidFill>
                  <a:schemeClr val="dk1"/>
                </a:solidFill>
              </a:rPr>
              <a:t> model evolves a </a:t>
            </a:r>
            <a:r>
              <a:rPr b="1" lang="zh-CN" sz="1200">
                <a:solidFill>
                  <a:schemeClr val="dk1"/>
                </a:solidFill>
              </a:rPr>
              <a:t>4D amplitude field</a:t>
            </a:r>
            <a:r>
              <a:rPr lang="zh-CN" sz="1200">
                <a:solidFill>
                  <a:schemeClr val="dk1"/>
                </a:solidFill>
              </a:rPr>
              <a:t> across space, frequency, and direction, while the shallow water model applies realistic interactions within shallow waters such as shores.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Updating millions of local wave components each frame requires heavy advection and diffusion operations.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These computations are </a:t>
            </a:r>
            <a:r>
              <a:rPr b="1" lang="zh-CN" sz="1200">
                <a:solidFill>
                  <a:schemeClr val="dk1"/>
                </a:solidFill>
              </a:rPr>
              <a:t>highly parallel</a:t>
            </a:r>
            <a:r>
              <a:rPr lang="zh-CN" sz="1200">
                <a:solidFill>
                  <a:schemeClr val="dk1"/>
                </a:solidFill>
              </a:rPr>
              <a:t>, making GPU acceleration essential for real-time performance.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GPU compute enables </a:t>
            </a:r>
            <a:r>
              <a:rPr b="1" lang="zh-CN" sz="1200">
                <a:solidFill>
                  <a:schemeClr val="dk1"/>
                </a:solidFill>
              </a:rPr>
              <a:t>large-scale, high-resolution</a:t>
            </a:r>
            <a:r>
              <a:rPr lang="zh-CN" sz="1200">
                <a:solidFill>
                  <a:schemeClr val="dk1"/>
                </a:solidFill>
              </a:rPr>
              <a:t> wave propagation and rendering at interactive frame rates.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383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Why This Project Matters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383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200">
                <a:solidFill>
                  <a:schemeClr val="dk1"/>
                </a:solidFill>
              </a:rPr>
              <a:t>Most interactive water simulations rely on </a:t>
            </a:r>
            <a:r>
              <a:rPr b="1" lang="zh-CN" sz="1200">
                <a:solidFill>
                  <a:schemeClr val="dk1"/>
                </a:solidFill>
              </a:rPr>
              <a:t>FFT or Gerstner wave models</a:t>
            </a:r>
            <a:r>
              <a:rPr lang="zh-CN" sz="1200">
                <a:solidFill>
                  <a:schemeClr val="dk1"/>
                </a:solidFill>
              </a:rPr>
              <a:t>, which </a:t>
            </a:r>
            <a:r>
              <a:rPr b="1" lang="zh-CN" sz="1200">
                <a:solidFill>
                  <a:schemeClr val="dk1"/>
                </a:solidFill>
              </a:rPr>
              <a:t>cannot interact</a:t>
            </a:r>
            <a:r>
              <a:rPr lang="zh-CN" sz="1200">
                <a:solidFill>
                  <a:schemeClr val="dk1"/>
                </a:solidFill>
              </a:rPr>
              <a:t> with moving objects or local obstacles. Others are particle based, and as such cannot be scaled to large scale simulations.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200">
                <a:solidFill>
                  <a:schemeClr val="dk1"/>
                </a:solidFill>
              </a:rPr>
              <a:t>This project bridges </a:t>
            </a:r>
            <a:r>
              <a:rPr b="1" lang="zh-CN" sz="1200">
                <a:solidFill>
                  <a:schemeClr val="dk1"/>
                </a:solidFill>
              </a:rPr>
              <a:t>physics-based simulation</a:t>
            </a:r>
            <a:r>
              <a:rPr lang="zh-CN" sz="1200">
                <a:solidFill>
                  <a:schemeClr val="dk1"/>
                </a:solidFill>
              </a:rPr>
              <a:t> and </a:t>
            </a:r>
            <a:r>
              <a:rPr b="1" lang="zh-CN" sz="1200">
                <a:solidFill>
                  <a:schemeClr val="dk1"/>
                </a:solidFill>
              </a:rPr>
              <a:t>real-time graphics</a:t>
            </a:r>
            <a:r>
              <a:rPr lang="zh-CN" sz="1200">
                <a:solidFill>
                  <a:schemeClr val="dk1"/>
                </a:solidFill>
              </a:rPr>
              <a:t>, bringing a research-level algorithm into WebGPU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sz="1200">
                <a:solidFill>
                  <a:schemeClr val="dk1"/>
                </a:solidFill>
              </a:rPr>
              <a:t>It demonstrates how </a:t>
            </a:r>
            <a:r>
              <a:rPr b="1" lang="zh-CN" sz="1200">
                <a:solidFill>
                  <a:schemeClr val="dk1"/>
                </a:solidFill>
              </a:rPr>
              <a:t>GPU-accelerated PDE solvers</a:t>
            </a:r>
            <a:r>
              <a:rPr lang="zh-CN" sz="1200">
                <a:solidFill>
                  <a:schemeClr val="dk1"/>
                </a:solidFill>
              </a:rPr>
              <a:t> can enable </a:t>
            </a:r>
            <a:r>
              <a:rPr b="1" lang="zh-CN" sz="1200">
                <a:solidFill>
                  <a:schemeClr val="dk1"/>
                </a:solidFill>
              </a:rPr>
              <a:t>artist-driven</a:t>
            </a:r>
            <a:r>
              <a:rPr lang="zh-CN" sz="1200">
                <a:solidFill>
                  <a:schemeClr val="dk1"/>
                </a:solidFill>
              </a:rPr>
              <a:t> and </a:t>
            </a:r>
            <a:r>
              <a:rPr b="1" lang="zh-CN" sz="1200">
                <a:solidFill>
                  <a:schemeClr val="dk1"/>
                </a:solidFill>
              </a:rPr>
              <a:t>physically plausible water animation</a:t>
            </a:r>
            <a:r>
              <a:rPr lang="zh-C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4734550" y="445025"/>
            <a:ext cx="383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Schedule for Milestones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4605700" y="1152475"/>
            <a:ext cx="4095300" cy="3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28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4"/>
              <a:buChar char="●"/>
            </a:pPr>
            <a:r>
              <a:rPr b="1" lang="zh-CN" sz="1554">
                <a:solidFill>
                  <a:schemeClr val="dk1"/>
                </a:solidFill>
              </a:rPr>
              <a:t>Milestone 1</a:t>
            </a:r>
            <a:r>
              <a:rPr lang="zh-CN" sz="1554">
                <a:solidFill>
                  <a:schemeClr val="dk1"/>
                </a:solidFill>
              </a:rPr>
              <a:t>: Implement GPU pipeline &amp; wavelet and shallow water advection equations</a:t>
            </a:r>
            <a:endParaRPr sz="1554">
              <a:solidFill>
                <a:schemeClr val="dk1"/>
              </a:solidFill>
            </a:endParaRPr>
          </a:p>
          <a:p>
            <a:pPr indent="-32728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4"/>
              <a:buChar char="●"/>
            </a:pPr>
            <a:r>
              <a:rPr b="1" lang="zh-CN" sz="1554">
                <a:solidFill>
                  <a:schemeClr val="dk1"/>
                </a:solidFill>
              </a:rPr>
              <a:t>Milestone 2</a:t>
            </a:r>
            <a:r>
              <a:rPr lang="zh-CN" sz="1554">
                <a:solidFill>
                  <a:schemeClr val="dk1"/>
                </a:solidFill>
              </a:rPr>
              <a:t>: Height reconstruction and rendering with dynamic tessellation</a:t>
            </a:r>
            <a:endParaRPr sz="1554">
              <a:solidFill>
                <a:schemeClr val="dk1"/>
              </a:solidFill>
            </a:endParaRPr>
          </a:p>
          <a:p>
            <a:pPr indent="-32728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4"/>
              <a:buChar char="●"/>
            </a:pPr>
            <a:r>
              <a:rPr b="1" lang="zh-CN" sz="1554">
                <a:solidFill>
                  <a:schemeClr val="dk1"/>
                </a:solidFill>
              </a:rPr>
              <a:t>Milestone 3</a:t>
            </a:r>
            <a:r>
              <a:rPr lang="zh-CN" sz="1554">
                <a:solidFill>
                  <a:schemeClr val="dk1"/>
                </a:solidFill>
              </a:rPr>
              <a:t>: Add real-time interaction: solid-fluid coupling &amp; wave painting &amp; other interactivities</a:t>
            </a:r>
            <a:endParaRPr sz="1554">
              <a:solidFill>
                <a:schemeClr val="dk1"/>
              </a:solidFill>
            </a:endParaRPr>
          </a:p>
          <a:p>
            <a:pPr indent="-32728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4"/>
              <a:buChar char="●"/>
            </a:pPr>
            <a:r>
              <a:rPr b="1" lang="zh-CN" sz="1554">
                <a:solidFill>
                  <a:schemeClr val="dk1"/>
                </a:solidFill>
              </a:rPr>
              <a:t>Final</a:t>
            </a:r>
            <a:r>
              <a:rPr lang="zh-CN" sz="1554">
                <a:solidFill>
                  <a:schemeClr val="dk1"/>
                </a:solidFill>
              </a:rPr>
              <a:t>: Interactive demo + performance analysis + visual showcase video</a:t>
            </a:r>
            <a:endParaRPr sz="155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7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APIs and Platforms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3227400" cy="17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zh-CN" sz="1200">
                <a:solidFill>
                  <a:schemeClr val="dk1"/>
                </a:solidFill>
              </a:rPr>
              <a:t>WebGPU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zh-CN" sz="1200">
                <a:solidFill>
                  <a:schemeClr val="dk1"/>
                </a:solidFill>
              </a:rPr>
              <a:t>Javascript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zh-CN" sz="1200">
                <a:solidFill>
                  <a:schemeClr val="dk1"/>
                </a:solidFill>
              </a:rPr>
              <a:t>Github Pages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zh-CN" sz="1200">
                <a:solidFill>
                  <a:schemeClr val="dk1"/>
                </a:solidFill>
              </a:rPr>
              <a:t>	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2995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References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3568325"/>
            <a:ext cx="8623200" cy="17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</a:rPr>
              <a:t>Stefan Jeschke and Chris Wojtan. 2023. Generalizing Shallow Water Simulations with Dispersive Surface Waves. ACM Trans. Graph. 42, 4, Article 83 (August 2023), 12 pages. https://doi.org/10.1145/3592098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</a:rPr>
              <a:t>Stefan Jeschke, Tomáš Skřivan, Matthias Müller-Fischer, Nuttapong Chentanez, Miles Macklin, and Chris Wojtan. 2018. Water surface wavelets. ACM Trans. Graph. 37, 4, Article 94 (August 2018), 13 pages. </a:t>
            </a:r>
            <a:r>
              <a:rPr lang="zh-CN" sz="1200" u="sng">
                <a:solidFill>
                  <a:schemeClr val="hlink"/>
                </a:solidFill>
                <a:hlinkClick r:id="rId3"/>
              </a:rPr>
              <a:t>https://doi.org/10.1145/3197517.3201336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7350" y="603350"/>
            <a:ext cx="4758201" cy="269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